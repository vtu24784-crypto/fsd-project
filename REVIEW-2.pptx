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10.fntdata" ContentType="application/x-fontdata"/>
  <Override PartName="/ppt/fonts/font11.fntdata" ContentType="application/x-fontdata"/>
  <Override PartName="/ppt/fonts/font12.fntdata" ContentType="application/x-fontdata"/>
  <Override PartName="/ppt/fonts/font13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media/image3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6" r:id="rId12"/>
    <p:sldId id="269" r:id="rId13"/>
    <p:sldId id="267" r:id="rId14"/>
    <p:sldId id="268" r:id="rId15"/>
    <p:sldId id="270" r:id="rId16"/>
    <p:sldId id="265" r:id="rId17"/>
  </p:sldIdLst>
  <p:sldSz cx="18288000" cy="10287000"/>
  <p:notesSz cx="6858000" cy="9144000"/>
  <p:embeddedFontLst>
    <p:embeddedFont>
      <p:font typeface="Cambria" panose="02040503050406030204" pitchFamily="18" charset="0"/>
      <p:regular r:id="rId21"/>
      <p:bold r:id="rId22"/>
      <p:italic r:id="rId23"/>
      <p:boldItalic r:id="rId24"/>
    </p:embeddedFont>
    <p:embeddedFont>
      <p:font typeface="Bookman Old Style" panose="02050604050505020204" pitchFamily="18" charset="0"/>
      <p:regular r:id="rId25"/>
      <p:bold r:id="rId26"/>
      <p:italic r:id="rId27"/>
    </p:embeddedFont>
    <p:embeddedFont>
      <p:font typeface="Gotham"/>
      <p:regular r:id="rId28"/>
    </p:embeddedFont>
    <p:embeddedFont>
      <p:font typeface="Gotham Bold Italics" panose="02000000000000000000"/>
      <p:boldItalic r:id="rId29"/>
    </p:embeddedFont>
    <p:embeddedFont>
      <p:font typeface="Calibri" panose="020F0502020204030204" charset="0"/>
      <p:regular r:id="rId30"/>
      <p:bold r:id="rId31"/>
      <p:italic r:id="rId32"/>
      <p:boldItalic r:id="rId3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 showGuides="1">
      <p:cViewPr>
        <p:scale>
          <a:sx n="44" d="100"/>
          <a:sy n="44" d="100"/>
        </p:scale>
        <p:origin x="20" y="13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3" Type="http://schemas.openxmlformats.org/officeDocument/2006/relationships/font" Target="fonts/font13.fntdata"/><Relationship Id="rId32" Type="http://schemas.openxmlformats.org/officeDocument/2006/relationships/font" Target="fonts/font12.fntdata"/><Relationship Id="rId31" Type="http://schemas.openxmlformats.org/officeDocument/2006/relationships/font" Target="fonts/font11.fntdata"/><Relationship Id="rId30" Type="http://schemas.openxmlformats.org/officeDocument/2006/relationships/font" Target="fonts/font10.fntdata"/><Relationship Id="rId3" Type="http://schemas.openxmlformats.org/officeDocument/2006/relationships/slide" Target="slides/slide1.xml"/><Relationship Id="rId29" Type="http://schemas.openxmlformats.org/officeDocument/2006/relationships/font" Target="fonts/font9.fntdata"/><Relationship Id="rId28" Type="http://schemas.openxmlformats.org/officeDocument/2006/relationships/font" Target="fonts/font8.fntdata"/><Relationship Id="rId27" Type="http://schemas.openxmlformats.org/officeDocument/2006/relationships/font" Target="fonts/font7.fntdata"/><Relationship Id="rId26" Type="http://schemas.openxmlformats.org/officeDocument/2006/relationships/font" Target="fonts/font6.fntdata"/><Relationship Id="rId25" Type="http://schemas.openxmlformats.org/officeDocument/2006/relationships/font" Target="fonts/font5.fntdata"/><Relationship Id="rId24" Type="http://schemas.openxmlformats.org/officeDocument/2006/relationships/font" Target="fonts/font4.fntdata"/><Relationship Id="rId23" Type="http://schemas.openxmlformats.org/officeDocument/2006/relationships/font" Target="fonts/font3.fntdata"/><Relationship Id="rId22" Type="http://schemas.openxmlformats.org/officeDocument/2006/relationships/font" Target="fonts/font2.fntdata"/><Relationship Id="rId21" Type="http://schemas.openxmlformats.org/officeDocument/2006/relationships/font" Target="fonts/font1.fntdata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.svg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.svg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.svg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.svg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5.png"/><Relationship Id="rId2" Type="http://schemas.openxmlformats.org/officeDocument/2006/relationships/image" Target="../media/image3.svg"/><Relationship Id="rId1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.svg"/><Relationship Id="rId1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.svg"/><Relationship Id="rId1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6.png"/><Relationship Id="rId2" Type="http://schemas.openxmlformats.org/officeDocument/2006/relationships/image" Target="../media/image3.svg"/><Relationship Id="rId1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7.png"/><Relationship Id="rId2" Type="http://schemas.openxmlformats.org/officeDocument/2006/relationships/image" Target="../media/image3.svg"/><Relationship Id="rId1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9.png"/><Relationship Id="rId2" Type="http://schemas.openxmlformats.org/officeDocument/2006/relationships/image" Target="../media/image3.svg"/><Relationship Id="rId1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.svg"/><Relationship Id="rId1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.svg"/><Relationship Id="rId1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10"/>
          <p:cNvGrpSpPr/>
          <p:nvPr/>
        </p:nvGrpSpPr>
        <p:grpSpPr>
          <a:xfrm>
            <a:off x="11762088" y="-9632634"/>
            <a:ext cx="10994424" cy="10994424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-9965724" y="-1383136"/>
            <a:ext cx="10994424" cy="10994424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pic>
        <p:nvPicPr>
          <p:cNvPr id="23" name="Picture 2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0443" y="196689"/>
            <a:ext cx="4752247" cy="1360611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360002" y="1608482"/>
            <a:ext cx="159258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Vel Tech Rangarajan Dr. Sagunthala R&amp;D Institute of Science and Technology</a:t>
            </a:r>
            <a:endParaRPr lang="en-US" sz="3200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ctr"/>
            <a:r>
              <a:rPr lang="en-US" sz="3600" b="1" dirty="0">
                <a:latin typeface="Cambria" panose="02040503050406030204" pitchFamily="18" charset="0"/>
                <a:ea typeface="Cambria" panose="02040503050406030204" pitchFamily="18" charset="0"/>
              </a:rPr>
              <a:t>School of Computing </a:t>
            </a:r>
            <a:endParaRPr lang="en-US" sz="3600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ctr"/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Department of Computer Science and Engineering</a:t>
            </a:r>
            <a:endParaRPr lang="en-IN" sz="32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692835" y="3272357"/>
            <a:ext cx="1526013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rgbClr val="0033CC"/>
                </a:solidFill>
                <a:latin typeface="Bookman Old Style" panose="02050604050505020204" pitchFamily="18" charset="0"/>
              </a:rPr>
              <a:t>10211CS224 / FULL STACK APPLICATION DEVELOPMENT (JAVA)</a:t>
            </a:r>
            <a:endParaRPr lang="en-IN" sz="2800" b="1" dirty="0">
              <a:solidFill>
                <a:srgbClr val="0033CC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3727757" y="3897940"/>
            <a:ext cx="1119028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PROJECT REVIEW </a:t>
            </a:r>
            <a:endParaRPr lang="en-IN" sz="36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IN" sz="36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IN" sz="36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Date: 18-05-2026</a:t>
            </a:r>
            <a:endParaRPr lang="en-IN" sz="36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501640" y="6057900"/>
            <a:ext cx="1578416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/>
              <a:t>Smart Campus Event Management System</a:t>
            </a:r>
            <a:endParaRPr lang="en-IN" sz="40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28390" y="7818954"/>
            <a:ext cx="9067800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000" b="1" dirty="0">
                <a:latin typeface="Cambria" panose="02040503050406030204" pitchFamily="18" charset="0"/>
                <a:ea typeface="Cambria" panose="02040503050406030204" pitchFamily="18" charset="0"/>
              </a:rPr>
              <a:t>Presented By:</a:t>
            </a:r>
            <a:endParaRPr lang="en-US" sz="3000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lnSpc>
                <a:spcPct val="150000"/>
              </a:lnSpc>
            </a:pPr>
            <a:r>
              <a:rPr lang="en-IN" alt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KETHA SUJITH REDDY</a:t>
            </a:r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 – VTU</a:t>
            </a:r>
            <a:r>
              <a:rPr lang="en-IN" alt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24784</a:t>
            </a:r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 – 23UECS</a:t>
            </a:r>
            <a:r>
              <a:rPr lang="en-IN" alt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1097</a:t>
            </a:r>
            <a:endParaRPr lang="en-IN" altLang="en-US" sz="3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0945035" y="7818586"/>
            <a:ext cx="6914603" cy="13615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000" b="1" dirty="0">
                <a:latin typeface="Cambria" panose="02040503050406030204" pitchFamily="18" charset="0"/>
                <a:ea typeface="Cambria" panose="02040503050406030204" pitchFamily="18" charset="0"/>
              </a:rPr>
              <a:t>Courses Handling Faculty:</a:t>
            </a:r>
            <a:endParaRPr lang="en-US" sz="3000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lnSpc>
                <a:spcPct val="150000"/>
              </a:lnSpc>
            </a:pPr>
            <a:r>
              <a:rPr lang="en-IN" sz="2800" dirty="0"/>
              <a:t>Dr. Hafizur Rahman</a:t>
            </a:r>
            <a:endParaRPr lang="en-US" sz="28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209800" y="6972300"/>
            <a:ext cx="147431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SDG:</a:t>
            </a:r>
            <a:r>
              <a:rPr lang="en-IN" b="1" dirty="0"/>
              <a:t>SDG 4 – Quality Education</a:t>
            </a:r>
            <a:endParaRPr lang="en-IN" sz="20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8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9" name="Group 9"/>
          <p:cNvGrpSpPr/>
          <p:nvPr/>
        </p:nvGrpSpPr>
        <p:grpSpPr>
          <a:xfrm>
            <a:off x="706082" y="1952203"/>
            <a:ext cx="992463" cy="992463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  <a:spcBef>
                  <a:spcPct val="0"/>
                </a:spcBef>
              </a:pPr>
              <a:r>
                <a:rPr lang="en-US" sz="2700" dirty="0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  <a:endParaRPr lang="en-US" sz="2700" dirty="0">
                <a:solidFill>
                  <a:srgbClr val="FFFEFE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948235" y="4447339"/>
            <a:ext cx="508158" cy="543805"/>
            <a:chOff x="0" y="0"/>
            <a:chExt cx="812800" cy="869819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948235" y="3107362"/>
            <a:ext cx="508158" cy="543805"/>
            <a:chOff x="0" y="0"/>
            <a:chExt cx="812800" cy="869819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948235" y="5115753"/>
            <a:ext cx="508158" cy="543805"/>
            <a:chOff x="0" y="0"/>
            <a:chExt cx="812800" cy="869819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948235" y="3776486"/>
            <a:ext cx="508158" cy="543805"/>
            <a:chOff x="0" y="0"/>
            <a:chExt cx="812800" cy="869819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948235" y="6455730"/>
            <a:ext cx="508158" cy="543805"/>
            <a:chOff x="0" y="0"/>
            <a:chExt cx="812800" cy="869819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948235" y="5784877"/>
            <a:ext cx="508158" cy="543805"/>
            <a:chOff x="0" y="0"/>
            <a:chExt cx="812800" cy="869819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48235" y="7123361"/>
            <a:ext cx="508158" cy="543805"/>
            <a:chOff x="0" y="0"/>
            <a:chExt cx="812800" cy="869819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948235" y="7790991"/>
            <a:ext cx="508158" cy="543805"/>
            <a:chOff x="0" y="0"/>
            <a:chExt cx="812800" cy="869819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sp>
        <p:nvSpPr>
          <p:cNvPr id="2" name="TextBox 1"/>
          <p:cNvSpPr txBox="1"/>
          <p:nvPr/>
        </p:nvSpPr>
        <p:spPr>
          <a:xfrm>
            <a:off x="152400" y="342900"/>
            <a:ext cx="18135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408754" y="2324100"/>
            <a:ext cx="17254972" cy="63468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 rot="10800000" flipV="1">
            <a:off x="2308172" y="2495180"/>
            <a:ext cx="13753183" cy="55707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514350" marR="0" lvl="0" indent="-5143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Smart Campus Event Management System is used to manage college events digitally. 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514350" marR="0" lvl="0" indent="-5143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 allows students, organizers, and admins to interact on one platform. 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514350" marR="0" lvl="0" indent="-5143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Organizers can create and update event details </a:t>
            </a:r>
            <a:r>
              <a:rPr kumimoji="0" lang="ar-SA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بسهولة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514350" marR="0" lvl="0" indent="-5143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Students can view and register for events online. 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514350" marR="0" lvl="0" indent="-5143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system stores all event and user data in a database. 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514350" marR="0" lvl="0" indent="-5143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Admin can approve, edit, or delete events and users. 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514350" marR="0" lvl="0" indent="-5143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 reduces manual work and paperwork in colleges. 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514350" marR="0" lvl="0" indent="-5143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Notifications can be sent to users about event updates. 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514350" marR="0" lvl="0" indent="-5143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 provides a simple and user-friendly interface. 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10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11" name="Group 11"/>
          <p:cNvGrpSpPr/>
          <p:nvPr/>
        </p:nvGrpSpPr>
        <p:grpSpPr>
          <a:xfrm>
            <a:off x="709357" y="2648112"/>
            <a:ext cx="992463" cy="992463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  <a:spcBef>
                  <a:spcPct val="0"/>
                </a:spcBef>
              </a:pPr>
              <a:r>
                <a:rPr lang="en-US" sz="2700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  <a:endParaRPr lang="en-US" sz="2700">
                <a:solidFill>
                  <a:srgbClr val="FFFEFE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51509" y="4428296"/>
            <a:ext cx="508158" cy="543805"/>
            <a:chOff x="0" y="0"/>
            <a:chExt cx="812800" cy="86981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51509" y="3762533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sp>
        <p:nvSpPr>
          <p:cNvPr id="47" name="TextBox 46"/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2206526" y="2671373"/>
            <a:ext cx="15082325" cy="6124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 rot="10800000" flipV="1">
            <a:off x="2206525" y="2548128"/>
            <a:ext cx="16081472" cy="43088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Managing campus events manually leads to confusion and inefficiency. 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Students often miss important event updates and registration deadlines. 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Event information is scattered across notice boards and social media. 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There is no centralized system to handle event scheduling and participation. 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Tracking registrations and attendance becomes difficult for organizers. 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Communication gaps exist between students, organizers, and administration. 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Manual processes increase paperwork and chances of errors. 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Therefore, a smart system is needed to automate and streamline event management. 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09357" y="3315742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  <a:spcBef>
                  <a:spcPct val="0"/>
                </a:spcBef>
              </a:pPr>
              <a:r>
                <a:rPr lang="en-US" sz="2700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  <a:endParaRPr lang="en-US" sz="2700">
                <a:solidFill>
                  <a:srgbClr val="FFFEFE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51509" y="4428296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51509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sp>
        <p:nvSpPr>
          <p:cNvPr id="50" name="TextBox 49"/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OBJECTIVE(S)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Freeform 10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52" name="TextBox 51"/>
          <p:cNvSpPr txBox="1"/>
          <p:nvPr/>
        </p:nvSpPr>
        <p:spPr>
          <a:xfrm>
            <a:off x="2209800" y="1638300"/>
            <a:ext cx="15082325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 rot="10800000" flipV="1">
            <a:off x="2358909" y="2493323"/>
            <a:ext cx="12881090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develop a centralized system for managing and organizing campus events efficiently. 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provide an easy platform for students to view and register for events with real-time updates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3"/>
          <p:cNvGrpSpPr/>
          <p:nvPr/>
        </p:nvGrpSpPr>
        <p:grpSpPr>
          <a:xfrm>
            <a:off x="709357" y="3983373"/>
            <a:ext cx="992463" cy="992463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  <a:spcBef>
                  <a:spcPct val="0"/>
                </a:spcBef>
              </a:pPr>
              <a:r>
                <a:rPr lang="en-US" sz="2700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  <a:endParaRPr lang="en-US" sz="2700">
                <a:solidFill>
                  <a:srgbClr val="FFFEFE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51509" y="3315742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51509" y="2648112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sp>
        <p:nvSpPr>
          <p:cNvPr id="45" name="Freeform 10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6" name="TextBox 45"/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2209800" y="1638300"/>
            <a:ext cx="15082325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 rot="10800000" flipV="1">
            <a:off x="1920007" y="2381733"/>
            <a:ext cx="14615392" cy="52937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proposed system is a web-based application that automates the management of campus events. 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 provides a centralized platform for students, organizers, and administrators. 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Organizers can create, update, and manage event details </a:t>
            </a:r>
            <a:r>
              <a:rPr kumimoji="0" lang="ar-SA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بسهولة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Students can easily browse and register for events online. 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Admin has full control to monitor and manage users and events. 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system stores all data securely in a database. 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 sends notifications and updates to users about upcoming events. 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Overall, the system improves efficiency, reduces manual work, and ensures better coordination. 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709357" y="4655766"/>
            <a:ext cx="992463" cy="992463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  <a:spcBef>
                  <a:spcPct val="0"/>
                </a:spcBef>
              </a:pPr>
              <a:r>
                <a:rPr lang="en-US" sz="2700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  <a:endParaRPr lang="en-US" sz="2700">
                <a:solidFill>
                  <a:srgbClr val="FFFEFE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51509" y="3320505"/>
            <a:ext cx="508158" cy="543805"/>
            <a:chOff x="0" y="0"/>
            <a:chExt cx="812800" cy="86981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51509" y="1987111"/>
            <a:ext cx="508158" cy="543805"/>
            <a:chOff x="0" y="0"/>
            <a:chExt cx="812800" cy="86981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51509" y="3988135"/>
            <a:ext cx="508158" cy="543805"/>
            <a:chOff x="0" y="0"/>
            <a:chExt cx="812800" cy="86981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51509" y="2652874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51509" y="6430348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51509" y="5764584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51509" y="7088453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51509" y="7756083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11762088" y="-9632634"/>
            <a:ext cx="10994424" cy="10994424"/>
            <a:chOff x="0" y="0"/>
            <a:chExt cx="812800" cy="81280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41" name="Freeform 10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2" name="TextBox 41"/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 ARCHITECTURE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2209800" y="1638300"/>
            <a:ext cx="15082325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80597" y="1837863"/>
            <a:ext cx="11326806" cy="661127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4"/>
          <p:cNvGrpSpPr/>
          <p:nvPr/>
        </p:nvGrpSpPr>
        <p:grpSpPr>
          <a:xfrm>
            <a:off x="735588" y="5318634"/>
            <a:ext cx="992463" cy="992463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  <a:spcBef>
                  <a:spcPct val="0"/>
                </a:spcBef>
              </a:pPr>
              <a:r>
                <a:rPr lang="en-US" sz="2700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  <a:endParaRPr lang="en-US" sz="2700">
                <a:solidFill>
                  <a:srgbClr val="FFFEFE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77741" y="6425585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77741" y="7093216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sp>
        <p:nvSpPr>
          <p:cNvPr id="46" name="Freeform 10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7" name="TextBox 46"/>
          <p:cNvSpPr txBox="1"/>
          <p:nvPr/>
        </p:nvSpPr>
        <p:spPr>
          <a:xfrm>
            <a:off x="190500" y="315938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WORKFLOW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2209800" y="1638300"/>
            <a:ext cx="15082325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b="1" dirty="0"/>
          </a:p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9835" y="2171285"/>
            <a:ext cx="9888330" cy="594443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9"/>
          <p:cNvGrpSpPr/>
          <p:nvPr/>
        </p:nvGrpSpPr>
        <p:grpSpPr>
          <a:xfrm>
            <a:off x="735588" y="5976927"/>
            <a:ext cx="992463" cy="992463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  <a:spcBef>
                  <a:spcPct val="0"/>
                </a:spcBef>
              </a:pPr>
              <a:r>
                <a:rPr lang="en-US" sz="2700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  <a:endParaRPr lang="en-US" sz="2700">
                <a:solidFill>
                  <a:srgbClr val="FFFEFE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977741" y="7093216"/>
            <a:ext cx="508158" cy="543805"/>
            <a:chOff x="0" y="0"/>
            <a:chExt cx="812800" cy="869819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sp>
        <p:nvSpPr>
          <p:cNvPr id="46" name="Freeform 10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7" name="TextBox 46"/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USED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2209800" y="1638300"/>
            <a:ext cx="15082325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 rot="10800000" flipV="1">
            <a:off x="1981200" y="2407832"/>
            <a:ext cx="15372981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Frontend: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HTML, CSS, JavaScript (for designing user interface) </a:t>
            </a: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Backend: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Java (Spring Boot) for handling business logic and APIs </a:t>
            </a: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Database: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MySQL for storing users, events, and registrations data </a:t>
            </a: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IDE/Tools: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Eclipse or IntelliJ IDEA for development </a:t>
            </a: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Server: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Apache Tomcat or embedded Spring Boot server for deployment </a:t>
            </a: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  <a:spcBef>
                  <a:spcPct val="0"/>
                </a:spcBef>
              </a:pPr>
              <a:r>
                <a:rPr lang="en-US" sz="2700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  <a:endParaRPr lang="en-US" sz="2700">
                <a:solidFill>
                  <a:srgbClr val="FFFEFE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sp>
        <p:nvSpPr>
          <p:cNvPr id="34" name="Freeform 34"/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/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43" name="TextBox 42"/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DESCRIPTION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2209800" y="1638300"/>
            <a:ext cx="15082325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sz="2800" dirty="0"/>
          </a:p>
          <a:p>
            <a:endParaRPr lang="en-IN" sz="2800" dirty="0"/>
          </a:p>
          <a:p>
            <a:endParaRPr lang="en-IN" sz="2800" dirty="0"/>
          </a:p>
          <a:p>
            <a:endParaRPr lang="en-IN" sz="2800" dirty="0"/>
          </a:p>
          <a:p>
            <a:endParaRPr lang="en-IN" sz="2800" dirty="0"/>
          </a:p>
          <a:p>
            <a:endParaRPr lang="en-IN" sz="2800" dirty="0"/>
          </a:p>
          <a:p>
            <a:endParaRPr lang="en-IN" sz="2800" dirty="0"/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1728051" y="2853346"/>
            <a:ext cx="16102750" cy="40318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Admin Module: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Manages users and events, and has full control over approving, editing, or deleting event details. 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Organizer Module: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Allows organizers to create and manage events and view the list of registered participants. 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Student/User Module: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Enables students to browse available events and register for them easily. 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Authentication Module: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Handles secure login and registration for all users in the system. 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  <a:endParaRPr lang="en-US" sz="2400" b="1" dirty="0">
                <a:solidFill>
                  <a:srgbClr val="002060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sp>
        <p:nvSpPr>
          <p:cNvPr id="34" name="Freeform 34"/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/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43" name="TextBox 42"/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2209800" y="1638300"/>
            <a:ext cx="15082325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6200" y="2450738"/>
            <a:ext cx="9448799" cy="519561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8(A)</a:t>
              </a:r>
              <a:endParaRPr lang="en-US" sz="2400" b="1" dirty="0">
                <a:solidFill>
                  <a:srgbClr val="002060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sp>
        <p:nvSpPr>
          <p:cNvPr id="34" name="Freeform 34"/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/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43" name="TextBox 42"/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2209800" y="1638300"/>
            <a:ext cx="15082325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38600" y="2495684"/>
            <a:ext cx="10668000" cy="615301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8(B)</a:t>
              </a:r>
              <a:endParaRPr lang="en-US" sz="2400" b="1" dirty="0">
                <a:solidFill>
                  <a:srgbClr val="002060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sp>
        <p:nvSpPr>
          <p:cNvPr id="34" name="Freeform 34"/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/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43" name="TextBox 42"/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2209800" y="1638300"/>
            <a:ext cx="15082325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9000" y="2589625"/>
            <a:ext cx="12344400" cy="5715026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8(C)</a:t>
              </a:r>
              <a:endParaRPr lang="en-US" sz="2400" b="1" dirty="0">
                <a:solidFill>
                  <a:srgbClr val="002060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sp>
        <p:nvSpPr>
          <p:cNvPr id="34" name="Freeform 34"/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/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43" name="TextBox 42"/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2209800" y="1638300"/>
            <a:ext cx="15082325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pic>
        <p:nvPicPr>
          <p:cNvPr id="39" name="Picture 3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6278" y="2747628"/>
            <a:ext cx="15175443" cy="4791744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735588" y="7321525"/>
            <a:ext cx="992463" cy="992463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  <a:spcBef>
                  <a:spcPct val="0"/>
                </a:spcBef>
              </a:pPr>
              <a:r>
                <a:rPr lang="en-US" sz="2700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  <a:endParaRPr lang="en-US" sz="2700">
                <a:solidFill>
                  <a:srgbClr val="FFFEFE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77741" y="6653894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sp>
        <p:nvSpPr>
          <p:cNvPr id="32" name="Freeform 32"/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44" name="Group 44"/>
          <p:cNvGrpSpPr/>
          <p:nvPr/>
        </p:nvGrpSpPr>
        <p:grpSpPr>
          <a:xfrm>
            <a:off x="16786360" y="-353712"/>
            <a:ext cx="10994424" cy="10994424"/>
            <a:chOff x="0" y="0"/>
            <a:chExt cx="812800" cy="81280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619125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2" name="TextBox 1"/>
          <p:cNvSpPr txBox="1"/>
          <p:nvPr/>
        </p:nvSpPr>
        <p:spPr>
          <a:xfrm>
            <a:off x="190500" y="290493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 &amp; LIMITATIONS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728051" y="1909375"/>
            <a:ext cx="14768517" cy="62786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200" b="1" dirty="0"/>
              <a:t>✅ Advantages</a:t>
            </a:r>
            <a:endParaRPr lang="en-US" sz="3200" b="1" dirty="0"/>
          </a:p>
          <a:p>
            <a:pPr marL="342900" indent="-342900">
              <a:buFont typeface="+mj-lt"/>
              <a:buAutoNum type="arabicPeriod"/>
            </a:pPr>
            <a:r>
              <a:rPr lang="en-US" sz="3200" dirty="0"/>
              <a:t>Reduces manual work and paperwork in managing campus events. </a:t>
            </a:r>
            <a:endParaRPr lang="en-US" sz="3200" dirty="0"/>
          </a:p>
          <a:p>
            <a:pPr marL="342900" indent="-342900">
              <a:buFont typeface="+mj-lt"/>
              <a:buAutoNum type="arabicPeriod"/>
            </a:pPr>
            <a:r>
              <a:rPr lang="en-US" sz="3200" dirty="0"/>
              <a:t>Provides a centralized platform for all event-related activities. </a:t>
            </a:r>
            <a:endParaRPr lang="en-US" sz="3200" dirty="0"/>
          </a:p>
          <a:p>
            <a:pPr marL="342900" indent="-342900">
              <a:buFont typeface="+mj-lt"/>
              <a:buAutoNum type="arabicPeriod"/>
            </a:pPr>
            <a:r>
              <a:rPr lang="en-US" sz="3200" dirty="0"/>
              <a:t>Makes event registration quick and easy for students. </a:t>
            </a:r>
            <a:endParaRPr lang="en-US" sz="3200" dirty="0"/>
          </a:p>
          <a:p>
            <a:pPr marL="342900" indent="-342900">
              <a:buFont typeface="+mj-lt"/>
              <a:buAutoNum type="arabicPeriod"/>
            </a:pPr>
            <a:r>
              <a:rPr lang="en-US" sz="3200" dirty="0"/>
              <a:t>Improves communication through notifications and updates. </a:t>
            </a:r>
            <a:endParaRPr lang="en-US" sz="3200" dirty="0"/>
          </a:p>
          <a:p>
            <a:pPr marL="342900" indent="-342900">
              <a:buFont typeface="+mj-lt"/>
              <a:buAutoNum type="arabicPeriod"/>
            </a:pPr>
            <a:r>
              <a:rPr lang="en-US" sz="3200" dirty="0"/>
              <a:t>Ensures better organization and tracking of events and participants.</a:t>
            </a:r>
            <a:endParaRPr lang="en-US" sz="3200" dirty="0"/>
          </a:p>
          <a:p>
            <a:r>
              <a:rPr lang="en-US" sz="3200" b="1" dirty="0"/>
              <a:t>❌ Disadvantages</a:t>
            </a:r>
            <a:endParaRPr lang="en-US" sz="3200" b="1" dirty="0"/>
          </a:p>
          <a:p>
            <a:pPr marL="342900" indent="-342900">
              <a:buFont typeface="+mj-lt"/>
              <a:buAutoNum type="arabicPeriod"/>
            </a:pPr>
            <a:r>
              <a:rPr lang="en-US" sz="3200" dirty="0"/>
              <a:t>Requires internet connectivity to access the system. </a:t>
            </a:r>
            <a:endParaRPr lang="en-US" sz="3200" dirty="0"/>
          </a:p>
          <a:p>
            <a:pPr marL="342900" indent="-342900">
              <a:buFont typeface="+mj-lt"/>
              <a:buAutoNum type="arabicPeriod"/>
            </a:pPr>
            <a:r>
              <a:rPr lang="en-US" sz="3200" dirty="0"/>
              <a:t>Initial development and maintenance cost can be high. </a:t>
            </a:r>
            <a:endParaRPr lang="en-US" sz="3200" dirty="0"/>
          </a:p>
          <a:p>
            <a:pPr marL="342900" indent="-342900">
              <a:buFont typeface="+mj-lt"/>
              <a:buAutoNum type="arabicPeriod"/>
            </a:pPr>
            <a:r>
              <a:rPr lang="en-US" sz="3200" dirty="0"/>
              <a:t>Technical issues or server downtime may affect usability. </a:t>
            </a:r>
            <a:endParaRPr lang="en-US" sz="3200" dirty="0"/>
          </a:p>
          <a:p>
            <a:pPr marL="342900" indent="-342900">
              <a:buFont typeface="+mj-lt"/>
              <a:buAutoNum type="arabicPeriod"/>
            </a:pPr>
            <a:r>
              <a:rPr lang="en-US" sz="3200" dirty="0"/>
              <a:t>Users may need training to use the system effectively. </a:t>
            </a:r>
            <a:endParaRPr lang="en-US" sz="3200" dirty="0"/>
          </a:p>
          <a:p>
            <a:pPr marL="342900" indent="-342900">
              <a:buFont typeface="+mj-lt"/>
              <a:buAutoNum type="arabicPeriod"/>
            </a:pPr>
            <a:r>
              <a:rPr lang="en-US" sz="3200" dirty="0"/>
              <a:t>Data security risks if proper protection measures are not implemented.</a:t>
            </a:r>
            <a:endParaRPr lang="en-US" sz="3200" dirty="0"/>
          </a:p>
          <a:p>
            <a:r>
              <a:rPr lang="en-US" dirty="0"/>
              <a:t> </a:t>
            </a:r>
            <a:endParaRPr 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Freeform 32"/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3" name="TextBox 43"/>
          <p:cNvSpPr txBox="1"/>
          <p:nvPr/>
        </p:nvSpPr>
        <p:spPr>
          <a:xfrm>
            <a:off x="3200400" y="4486172"/>
            <a:ext cx="11159653" cy="13146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150"/>
              </a:lnSpc>
            </a:pPr>
            <a:r>
              <a:rPr lang="en-US" sz="11155" b="1" i="1" dirty="0">
                <a:solidFill>
                  <a:srgbClr val="191919"/>
                </a:solidFill>
                <a:latin typeface="Gotham Bold Italics" panose="02000000000000000000"/>
                <a:ea typeface="Gotham Bold Italics" panose="02000000000000000000"/>
                <a:cs typeface="Gotham Bold Italics" panose="02000000000000000000"/>
                <a:sym typeface="Gotham Bold Italics" panose="02000000000000000000"/>
              </a:rPr>
              <a:t>Thank you</a:t>
            </a:r>
            <a:endParaRPr lang="en-US" sz="11155" b="1" i="1" dirty="0">
              <a:solidFill>
                <a:srgbClr val="191919"/>
              </a:solidFill>
              <a:latin typeface="Gotham Bold Italics" panose="02000000000000000000"/>
              <a:ea typeface="Gotham Bold Italics" panose="02000000000000000000"/>
              <a:cs typeface="Gotham Bold Italics" panose="02000000000000000000"/>
              <a:sym typeface="Gotham Bold Italics" panose="02000000000000000000"/>
            </a:endParaRPr>
          </a:p>
        </p:txBody>
      </p:sp>
      <p:grpSp>
        <p:nvGrpSpPr>
          <p:cNvPr id="44" name="Group 44"/>
          <p:cNvGrpSpPr/>
          <p:nvPr/>
        </p:nvGrpSpPr>
        <p:grpSpPr>
          <a:xfrm>
            <a:off x="16786360" y="-353712"/>
            <a:ext cx="10994424" cy="10994424"/>
            <a:chOff x="0" y="0"/>
            <a:chExt cx="812800" cy="81280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619125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4003</Words>
  <Application>WPS Presentation</Application>
  <PresentationFormat>Custom</PresentationFormat>
  <Paragraphs>479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7" baseType="lpstr">
      <vt:lpstr>Arial</vt:lpstr>
      <vt:lpstr>SimSun</vt:lpstr>
      <vt:lpstr>Wingdings</vt:lpstr>
      <vt:lpstr>Cambria</vt:lpstr>
      <vt:lpstr>Bookman Old Style</vt:lpstr>
      <vt:lpstr>Times New Roman</vt:lpstr>
      <vt:lpstr>Gotham</vt:lpstr>
      <vt:lpstr>Gotham Bold Italics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White and Orange Simple Portfolio Presentation</dc:title>
  <dc:creator>Navya S</dc:creator>
  <cp:lastModifiedBy>karth</cp:lastModifiedBy>
  <cp:revision>16</cp:revision>
  <dcterms:created xsi:type="dcterms:W3CDTF">2006-08-16T00:00:00Z</dcterms:created>
  <dcterms:modified xsi:type="dcterms:W3CDTF">2026-04-17T06:33:52Z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7822D679327845FCB5AEEDC73E0A0EB0_13</vt:lpwstr>
  </property>
  <property fmtid="{D5CDD505-2E9C-101B-9397-08002B2CF9AE}" pid="3" name="KSOProductBuildVer">
    <vt:lpwstr>1033-12.1.0.25242</vt:lpwstr>
  </property>
</Properties>
</file>